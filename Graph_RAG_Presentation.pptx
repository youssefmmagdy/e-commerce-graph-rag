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99" r:id="rId15"/>
    <p:sldId id="269" r:id="rId16"/>
    <p:sldId id="297" r:id="rId17"/>
    <p:sldId id="291" r:id="rId18"/>
    <p:sldId id="271" r:id="rId19"/>
    <p:sldId id="272" r:id="rId20"/>
    <p:sldId id="293" r:id="rId21"/>
    <p:sldId id="295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300" r:id="rId39"/>
    <p:sldId id="289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272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e-commerce-graph-rag.streamlit.app/" TargetMode="Externa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Graph-RAG for E-Commerce Knowledge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9900"/>
                </a:solidFill>
              </a:defRPr>
            </a:pPr>
            <a:r>
              <a:t>Advanced Computational Linguistics (M3) | Milestone 3 | December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Presentation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2707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System Architecture – Components &amp; Data Flow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Retrieval Strategy – Cypher Queries &amp; Embeddings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</a:t>
            </a:r>
            <a:r>
              <a:rPr>
                <a:sym typeface="+mn-ea"/>
              </a:rPr>
              <a:t>LLM </a:t>
            </a:r>
            <a:r>
              <a:rPr lang="en-US">
                <a:sym typeface="+mn-ea"/>
              </a:rPr>
              <a:t>Implementaion &amp; </a:t>
            </a:r>
            <a:r>
              <a:rPr>
                <a:sym typeface="+mn-ea"/>
              </a:rPr>
              <a:t>Comparison</a:t>
            </a:r>
            <a:r>
              <a:rPr lang="en-US">
                <a:sym typeface="+mn-ea"/>
              </a:rPr>
              <a:t> </a:t>
            </a:r>
            <a:r>
              <a:t>– </a:t>
            </a:r>
            <a:r>
              <a:rPr lang="en-US"/>
              <a:t>Some </a:t>
            </a:r>
            <a:r>
              <a:rPr lang="en-US">
                <a:sym typeface="+mn-ea"/>
              </a:rPr>
              <a:t>Implementaion steps,</a:t>
            </a:r>
            <a:r>
              <a:rPr lang="en-US"/>
              <a:t> </a:t>
            </a:r>
            <a:r>
              <a:t>Quantitative &amp; Qualitative Analysis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Error Analysis – Failures &amp; Root Causes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Improvements Added – Enhancements Made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Remaining Limitations – Future Work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003366"/>
                </a:solidFill>
              </a:defRPr>
            </a:pPr>
            <a:r>
              <a:t>1. System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Hybrid Retrieval-Augmented Generation (RAG) Pipeline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Combines structured Cypher queries with semantic embeddings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Knowledge Graph: Neo4j with 7 node types, 7 relationship types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Dual Embedding Strategy: MiniLM (384-D) + MPNET (768-D)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Multi-Model LLM Comparison: Gemma 2, Llama 3.2 3B, Llama 3.2 1B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Interactive UI: Streamlit dashboard with graph visualization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Data Source: Brazilian E-Commerce dataset (45K+ records)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Architecture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0973" y="1005840"/>
            <a:ext cx="9574567" cy="6017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04040"/>
                </a:solidFill>
                <a:latin typeface="Consolas" panose="020B0609020204030204"/>
              </a:defRPr>
            </a:pPr>
            <a:br>
              <a:rPr dirty="0"/>
            </a:br>
            <a:r>
              <a:rPr dirty="0"/>
              <a:t>┌─────────────────────────────────────────────────────────────────────────────┐</a:t>
            </a:r>
            <a:br>
              <a:rPr dirty="0"/>
            </a:br>
            <a:r>
              <a:rPr dirty="0"/>
              <a:t>│                         USER INTERFACE (</a:t>
            </a:r>
            <a:r>
              <a:rPr dirty="0" err="1"/>
              <a:t>Streamlit</a:t>
            </a:r>
            <a:r>
              <a:rPr dirty="0"/>
              <a:t>)                          │</a:t>
            </a:r>
            <a:br>
              <a:rPr dirty="0"/>
            </a:br>
            <a:r>
              <a:rPr dirty="0"/>
              <a:t>│   Query Input  │  Task Selection  │  Model Selection  │  Graph Viz         </a:t>
            </a:r>
            <a:r>
              <a:rPr lang="en-US" dirty="0"/>
              <a:t> </a:t>
            </a:r>
            <a:r>
              <a:rPr dirty="0"/>
              <a:t>│</a:t>
            </a:r>
            <a:br>
              <a:rPr dirty="0"/>
            </a:br>
            <a:r>
              <a:rPr dirty="0"/>
              <a:t>└────────────────────────────────┬────────────────────────────────────────────┘</a:t>
            </a:r>
            <a:br>
              <a:rPr dirty="0"/>
            </a:br>
            <a:r>
              <a:rPr dirty="0"/>
              <a:t>                                 │</a:t>
            </a:r>
            <a:br>
              <a:rPr dirty="0"/>
            </a:br>
            <a:r>
              <a:rPr dirty="0"/>
              <a:t>         ┌───────────────────────┴───────────────────────┐</a:t>
            </a:r>
            <a:br>
              <a:rPr dirty="0"/>
            </a:br>
            <a:r>
              <a:rPr dirty="0"/>
              <a:t>         │                                               │</a:t>
            </a:r>
            <a:br>
              <a:rPr dirty="0"/>
            </a:br>
            <a:r>
              <a:rPr dirty="0"/>
              <a:t>┌────────▼─────────┐                          </a:t>
            </a:r>
            <a:r>
              <a:rPr lang="en-US" dirty="0"/>
              <a:t> </a:t>
            </a:r>
            <a:r>
              <a:rPr dirty="0"/>
              <a:t>┌─────────▼──────────┐</a:t>
            </a:r>
            <a:br>
              <a:rPr dirty="0"/>
            </a:br>
            <a:r>
              <a:rPr dirty="0"/>
              <a:t>│ ENTITY EXTRACTION│                          </a:t>
            </a:r>
            <a:r>
              <a:rPr lang="en-US" dirty="0"/>
              <a:t> </a:t>
            </a:r>
            <a:r>
              <a:rPr dirty="0"/>
              <a:t>│  CYPHER TEMPLATES  │</a:t>
            </a:r>
            <a:br>
              <a:rPr dirty="0"/>
            </a:br>
            <a:r>
              <a:rPr dirty="0"/>
              <a:t>│  • </a:t>
            </a:r>
            <a:r>
              <a:rPr dirty="0" err="1"/>
              <a:t>PhraseMatcher</a:t>
            </a:r>
            <a:r>
              <a:rPr dirty="0"/>
              <a:t> │                          </a:t>
            </a:r>
            <a:r>
              <a:rPr lang="en-US" dirty="0"/>
              <a:t> </a:t>
            </a:r>
            <a:r>
              <a:rPr dirty="0"/>
              <a:t>│  • 1</a:t>
            </a:r>
            <a:r>
              <a:rPr lang="en-US" dirty="0"/>
              <a:t>0</a:t>
            </a:r>
            <a:r>
              <a:rPr dirty="0"/>
              <a:t> Query Types  │</a:t>
            </a:r>
            <a:br>
              <a:rPr dirty="0"/>
            </a:br>
            <a:r>
              <a:rPr dirty="0"/>
              <a:t>│  • Regex Patterns│                          </a:t>
            </a:r>
            <a:r>
              <a:rPr lang="en-US" dirty="0"/>
              <a:t> </a:t>
            </a:r>
            <a:r>
              <a:rPr dirty="0"/>
              <a:t>│  </a:t>
            </a:r>
            <a:r>
              <a:rPr lang="en-US" dirty="0"/>
              <a:t>	   		  </a:t>
            </a:r>
            <a:r>
              <a:rPr dirty="0"/>
              <a:t>│</a:t>
            </a:r>
            <a:br>
              <a:rPr dirty="0"/>
            </a:br>
            <a:r>
              <a:rPr dirty="0"/>
              <a:t>└────────┬─────────┘                          </a:t>
            </a:r>
            <a:r>
              <a:rPr lang="en-US" dirty="0"/>
              <a:t> </a:t>
            </a:r>
            <a:r>
              <a:rPr dirty="0"/>
              <a:t>└─────────┬──────────┘</a:t>
            </a:r>
            <a:br>
              <a:rPr dirty="0"/>
            </a:br>
            <a:r>
              <a:rPr dirty="0"/>
              <a:t>         │                                               │</a:t>
            </a:r>
            <a:br>
              <a:rPr dirty="0"/>
            </a:br>
            <a:r>
              <a:rPr dirty="0"/>
              <a:t>         └───────────────────┬───────────────────────────┘</a:t>
            </a:r>
            <a:br>
              <a:rPr dirty="0"/>
            </a:br>
            <a:r>
              <a:rPr dirty="0"/>
              <a:t>                             │</a:t>
            </a:r>
            <a:br>
              <a:rPr dirty="0"/>
            </a:br>
            <a:r>
              <a:rPr dirty="0"/>
              <a:t>              ┌──────────────▼──────────────┐</a:t>
            </a:r>
            <a:br>
              <a:rPr dirty="0"/>
            </a:br>
            <a:r>
              <a:rPr dirty="0"/>
              <a:t>              │    DUAL RETRIEVAL SYSTEM    │</a:t>
            </a:r>
            <a:br>
              <a:rPr dirty="0"/>
            </a:br>
            <a:r>
              <a:rPr dirty="0"/>
              <a:t>              ├─────────────────────────────┤</a:t>
            </a:r>
            <a:br>
              <a:rPr dirty="0"/>
            </a:br>
            <a:r>
              <a:rPr dirty="0"/>
              <a:t>              │  BASELINE     │  SEMANTIC   │</a:t>
            </a:r>
            <a:br>
              <a:rPr dirty="0"/>
            </a:br>
            <a:r>
              <a:rPr dirty="0"/>
              <a:t>              │  Cypher       │  Embeddings │</a:t>
            </a:r>
            <a:br>
              <a:rPr dirty="0"/>
            </a:br>
            <a:r>
              <a:rPr dirty="0"/>
              <a:t>              │  Queries      │  </a:t>
            </a:r>
            <a:r>
              <a:rPr dirty="0" err="1"/>
              <a:t>MiniLM</a:t>
            </a:r>
            <a:r>
              <a:rPr dirty="0"/>
              <a:t>/MPNET│</a:t>
            </a:r>
            <a:br>
              <a:rPr dirty="0"/>
            </a:br>
            <a:r>
              <a:rPr dirty="0"/>
              <a:t>              └──────┬────────┴──────┬──────┘</a:t>
            </a:r>
            <a:br>
              <a:rPr dirty="0"/>
            </a:br>
            <a:r>
              <a:rPr lang="en-US" dirty="0"/>
              <a:t>			   |			 |</a:t>
            </a:r>
            <a:br>
              <a:rPr dirty="0"/>
            </a:br>
            <a:r>
              <a:rPr lang="en-US" dirty="0"/>
              <a:t>			   |</a:t>
            </a:r>
            <a:r>
              <a:rPr dirty="0"/>
              <a:t>  </a:t>
            </a:r>
            <a:r>
              <a:rPr lang="en-US" dirty="0"/>
              <a:t>    </a:t>
            </a:r>
            <a:r>
              <a:rPr dirty="0"/>
              <a:t> ┌──────▼───────┐</a:t>
            </a:r>
            <a:br>
              <a:rPr dirty="0"/>
            </a:br>
            <a:r>
              <a:rPr lang="en-US" dirty="0"/>
              <a:t>			   |	 </a:t>
            </a:r>
            <a:r>
              <a:rPr dirty="0"/>
              <a:t>    │ </a:t>
            </a:r>
            <a:r>
              <a:rPr lang="en-US" dirty="0"/>
              <a:t>NEO4J + FAISS|</a:t>
            </a:r>
          </a:p>
          <a:p>
            <a:pPr>
              <a:defRPr sz="1100">
                <a:solidFill>
                  <a:srgbClr val="404040"/>
                </a:solidFill>
                <a:latin typeface="Consolas" panose="020B0609020204030204"/>
              </a:defRPr>
            </a:pPr>
            <a:r>
              <a:rPr lang="en-US" dirty="0"/>
              <a:t>			   |	     | Knowledge</a:t>
            </a:r>
            <a:r>
              <a:rPr dirty="0"/>
              <a:t> </a:t>
            </a:r>
            <a:r>
              <a:rPr lang="en-US" dirty="0"/>
              <a:t>   </a:t>
            </a:r>
            <a:r>
              <a:rPr dirty="0"/>
              <a:t>│</a:t>
            </a:r>
            <a:br>
              <a:rPr dirty="0"/>
            </a:br>
            <a:r>
              <a:rPr lang="en-US" dirty="0"/>
              <a:t>			   |	     </a:t>
            </a:r>
            <a:r>
              <a:rPr dirty="0"/>
              <a:t>│   </a:t>
            </a:r>
            <a:r>
              <a:rPr lang="en-US" dirty="0"/>
              <a:t>Graph</a:t>
            </a:r>
            <a:r>
              <a:rPr dirty="0"/>
              <a:t>  </a:t>
            </a:r>
            <a:r>
              <a:rPr lang="en-US" dirty="0"/>
              <a:t>  </a:t>
            </a:r>
            <a:r>
              <a:rPr dirty="0"/>
              <a:t>  │</a:t>
            </a:r>
            <a:br>
              <a:rPr dirty="0"/>
            </a:br>
            <a:r>
              <a:rPr lang="en-US" dirty="0"/>
              <a:t>			   |	     </a:t>
            </a:r>
            <a:r>
              <a:rPr dirty="0"/>
              <a:t>└──────┬───────┘</a:t>
            </a:r>
            <a:br>
              <a:rPr dirty="0"/>
            </a:br>
            <a:r>
              <a:rPr lang="en-US" dirty="0"/>
              <a:t>			-------------------</a:t>
            </a:r>
            <a:br>
              <a:rPr dirty="0"/>
            </a:br>
            <a:r>
              <a:rPr dirty="0"/>
              <a:t>                    ┌───────</a:t>
            </a:r>
            <a:r>
              <a:rPr lang="en-US" dirty="0"/>
              <a:t>▼</a:t>
            </a:r>
            <a:r>
              <a:rPr dirty="0"/>
              <a:t>───────┐</a:t>
            </a:r>
            <a:br>
              <a:rPr dirty="0"/>
            </a:br>
            <a:r>
              <a:rPr dirty="0"/>
              <a:t>                    │  LLM LAYER    │</a:t>
            </a:r>
            <a:br>
              <a:rPr dirty="0"/>
            </a:br>
            <a:r>
              <a:rPr dirty="0"/>
              <a:t>                    │  3 Models     │</a:t>
            </a:r>
            <a:br>
              <a:rPr dirty="0"/>
            </a:br>
            <a:r>
              <a:rPr dirty="0"/>
              <a:t>                    └───────</a:t>
            </a:r>
            <a:r>
              <a:rPr lang="en-US" dirty="0"/>
              <a:t> </a:t>
            </a:r>
            <a:r>
              <a:rPr dirty="0"/>
              <a:t>───────┘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Knowledge Graph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0C0"/>
                </a:solidFill>
              </a:defRPr>
            </a:pPr>
            <a:r>
              <a:t>Node Types (7)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Customer – customer_id, city, state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Order – order_id, status, timestamps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Order_Item – price, freight_value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Product – category, description_length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Seller – seller_id, city, state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Review – score, title, message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State – state abbreviation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0C0"/>
                </a:solidFill>
              </a:defRPr>
            </a:pPr>
            <a:r>
              <a:t>Relationships (7)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PLACED: Customer → Order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CONTAINS: Order → Order_Item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REFERS_TO: Order_Item → Product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SOLD_BY: Order_Item → Seller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REVIEWS: Review → Order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LOCATED_IN: Customer/Seller → State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delivery_delay_days: Calculated field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76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Entity Extraction (EntityExtractor</a:t>
            </a:r>
            <a:r>
              <a:rPr lang="en-US"/>
              <a:t> class</a:t>
            </a:r>
            <a:r>
              <a:t>)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SpaCy PhraseMatcher for categories, cities, states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Regex patterns for IDs (32-char hex), ratings, delays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- 28 CSV column names recognized as entities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Query Engine (Queries)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- 10 parameterized Cypher query templates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CALL subqueries for total_count without LIMIT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Auto-detection of query type from user input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Embedding System (Embedd</a:t>
            </a:r>
            <a:r>
              <a:rPr lang="en-US"/>
              <a:t>ing class</a:t>
            </a:r>
            <a:r>
              <a:t>)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MiniLM-L6-v2: Fast (384-D) for real-time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003366"/>
                </a:solidFill>
              </a:defRPr>
            </a:pPr>
            <a:r>
              <a:t>2. Retrieval Strategy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Baseline Retrieval: Cypher 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Query 1: Products by Category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Query 2: Products by Category AND City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Query 3: Products by City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Query 4: Reviews for a Specific Product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Query 5: Orders by Customer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Query 6: Orders with Delivery Delays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Query 7: Customers by State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Query 8: Get Specific Order by ID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Query 9: Customers by Seller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Query 10: Customers by City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Cypher Query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04040"/>
                </a:solidFill>
                <a:latin typeface="Consolas" panose="020B0609020204030204"/>
              </a:defRPr>
            </a:pPr>
            <a:br/>
            <a:r>
              <a:t>Example: Query 2 - Products by Category and City</a:t>
            </a:r>
            <a:br/>
            <a:br/>
            <a:r>
              <a:t>CALL {</a:t>
            </a:r>
            <a:br/>
            <a:r>
              <a:t>    MATCH (c:Customer)-[:PLACED]-&gt;(o:Order)</a:t>
            </a:r>
            <a:br/>
            <a:r>
              <a:t>          -[:CONTAINS]-&gt;(oi:Order_Item)</a:t>
            </a:r>
            <a:br/>
            <a:r>
              <a:t>          -[:REFERS_TO]-&gt;(p:Product)</a:t>
            </a:r>
            <a:br/>
            <a:r>
              <a:t>    WHERE toLower(c.customer_city) = toLower($city)</a:t>
            </a:r>
            <a:br/>
            <a:r>
              <a:t>      AND p.product_category_name = $category</a:t>
            </a:r>
            <a:br/>
            <a:r>
              <a:t>    RETURN count(DISTINCT o.order_id) AS total_count</a:t>
            </a:r>
            <a:br/>
            <a:r>
              <a:t>}</a:t>
            </a:r>
            <a:br/>
            <a:r>
              <a:t>MATCH (c:Customer)-[:PLACED]-&gt;(o:Order)</a:t>
            </a:r>
            <a:br/>
            <a:r>
              <a:t>      -[:CONTAINS]-&gt;(oi:Order_Item)</a:t>
            </a:r>
            <a:br/>
            <a:r>
              <a:t>      -[:REFERS_TO]-&gt;(p:Product)</a:t>
            </a:r>
            <a:br/>
            <a:r>
              <a:t>WHERE toLower(c.customer_city) = toLower($city)</a:t>
            </a:r>
            <a:br/>
            <a:r>
              <a:t>  AND p.product_category_name = $category</a:t>
            </a:r>
            <a:br/>
            <a:r>
              <a:t>RETURN DISTINCT </a:t>
            </a:r>
            <a:br/>
            <a:r>
              <a:t>    o.order_id AS order_id,</a:t>
            </a:r>
            <a:br/>
            <a:r>
              <a:t>    c.customer_city AS customer_city,</a:t>
            </a:r>
            <a:br/>
            <a:r>
              <a:t>    p.product_category_name AS category,</a:t>
            </a:r>
            <a:br/>
            <a:r>
              <a:t>    oi.price AS price,</a:t>
            </a:r>
            <a:br/>
            <a:r>
              <a:t>    total_count</a:t>
            </a:r>
            <a:br/>
            <a:r>
              <a:t>LIMIT 10</a:t>
            </a:r>
            <a:br/>
            <a:br/>
            <a:r>
              <a:t>→ Returns: Records + total_count (e.g., 1,243 matching orders)</a:t>
            </a:r>
            <a:br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3251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dirty="0"/>
              <a:t>Semantic Retrieval: </a:t>
            </a:r>
            <a:r>
              <a:rPr lang="en-US" dirty="0"/>
              <a:t>Feature Vector </a:t>
            </a:r>
            <a:r>
              <a:rPr dirty="0"/>
              <a:t>Embeddings</a:t>
            </a:r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0C0"/>
                </a:solidFill>
              </a:defRPr>
            </a:pPr>
            <a:r>
              <a:t>MiniLM-L6-v2 (384-D)</a:t>
            </a:r>
          </a:p>
        </p:txBody>
      </p:sp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457200" y="1828800"/>
            <a:ext cx="5303520" cy="1036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rPr dirty="0"/>
              <a:t>• Speed: ~100ms per query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rPr dirty="0"/>
              <a:t>• Dimensions: 384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rPr dirty="0"/>
              <a:t>• Accuracy: Good</a:t>
            </a: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0C0"/>
                </a:solidFill>
              </a:defRPr>
            </a:pPr>
            <a:r>
              <a:t>MPNET-base-v2 (768-D)</a:t>
            </a: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6217920" y="1828800"/>
            <a:ext cx="5303520" cy="1036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rPr dirty="0"/>
              <a:t>• Speed: ~200ms per query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rPr dirty="0"/>
              <a:t>• Dimensions: 768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rPr dirty="0"/>
              <a:t>• Accuracy: Better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5810C4-6E49-1AFA-10C0-B37228AB876E}"/>
              </a:ext>
            </a:extLst>
          </p:cNvPr>
          <p:cNvSpPr txBox="1"/>
          <p:nvPr/>
        </p:nvSpPr>
        <p:spPr>
          <a:xfrm>
            <a:off x="457200" y="3332792"/>
            <a:ext cx="1061769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String</a:t>
            </a:r>
          </a:p>
          <a:p>
            <a:r>
              <a:rPr lang="en-US" dirty="0"/>
              <a:t>row['</a:t>
            </a:r>
            <a:r>
              <a:rPr lang="en-US" dirty="0" err="1"/>
              <a:t>order_status</a:t>
            </a:r>
            <a:r>
              <a:rPr lang="en-US" dirty="0"/>
              <a:t>'] + ' ' +  row['</a:t>
            </a:r>
            <a:r>
              <a:rPr lang="en-US" dirty="0" err="1"/>
              <a:t>customer_city</a:t>
            </a:r>
            <a:r>
              <a:rPr lang="en-US" dirty="0"/>
              <a:t>'] + ' ' +  row['</a:t>
            </a:r>
            <a:r>
              <a:rPr lang="en-US" dirty="0" err="1"/>
              <a:t>product_category_name</a:t>
            </a:r>
            <a:r>
              <a:rPr lang="en-US" dirty="0"/>
              <a:t>'] + ' ' +  row['</a:t>
            </a:r>
            <a:r>
              <a:rPr lang="en-US" dirty="0" err="1"/>
              <a:t>review_comment_title</a:t>
            </a:r>
            <a:r>
              <a:rPr lang="en-US" dirty="0"/>
              <a:t>'] + ' ' +  row['</a:t>
            </a:r>
            <a:r>
              <a:rPr lang="en-US" dirty="0" err="1"/>
              <a:t>review_comment_message</a:t>
            </a:r>
            <a:r>
              <a:rPr lang="en-US" dirty="0"/>
              <a:t>'] +  row['</a:t>
            </a:r>
            <a:r>
              <a:rPr lang="en-US" dirty="0" err="1"/>
              <a:t>sentiment_group</a:t>
            </a:r>
            <a:r>
              <a:rPr lang="en-US" dirty="0"/>
              <a:t>'] + </a:t>
            </a:r>
            <a:br>
              <a:rPr lang="en-US" dirty="0"/>
            </a:br>
            <a:r>
              <a:rPr lang="en-US" b="1" dirty="0"/>
              <a:t>Non-String</a:t>
            </a:r>
          </a:p>
          <a:p>
            <a:r>
              <a:rPr lang="en-US" dirty="0"/>
              <a:t>'price: ' +  row['price'] + '</a:t>
            </a:r>
            <a:r>
              <a:rPr lang="en-US" dirty="0" err="1"/>
              <a:t>freight_value</a:t>
            </a:r>
            <a:r>
              <a:rPr lang="en-US" dirty="0"/>
              <a:t>: ' +  row['</a:t>
            </a:r>
            <a:r>
              <a:rPr lang="en-US" dirty="0" err="1"/>
              <a:t>freight_value</a:t>
            </a:r>
            <a:r>
              <a:rPr lang="en-US" dirty="0"/>
              <a:t>'] + '</a:t>
            </a:r>
            <a:r>
              <a:rPr lang="en-US" dirty="0" err="1"/>
              <a:t>product_description_lenght</a:t>
            </a:r>
            <a:r>
              <a:rPr lang="en-US" dirty="0"/>
              <a:t>: ' +  row['</a:t>
            </a:r>
            <a:r>
              <a:rPr lang="en-US" dirty="0" err="1"/>
              <a:t>product_description_lenght</a:t>
            </a:r>
            <a:r>
              <a:rPr lang="en-US" dirty="0"/>
              <a:t>'] + '</a:t>
            </a:r>
            <a:r>
              <a:rPr lang="en-US" dirty="0" err="1"/>
              <a:t>product_photos_qty</a:t>
            </a:r>
            <a:r>
              <a:rPr lang="en-US" dirty="0"/>
              <a:t>: ' +  row['</a:t>
            </a:r>
            <a:r>
              <a:rPr lang="en-US" dirty="0" err="1"/>
              <a:t>product_photos_qty</a:t>
            </a:r>
            <a:r>
              <a:rPr lang="en-US" dirty="0"/>
              <a:t>'] + '</a:t>
            </a:r>
            <a:r>
              <a:rPr lang="en-US" dirty="0" err="1"/>
              <a:t>review_score</a:t>
            </a:r>
            <a:r>
              <a:rPr lang="en-US" dirty="0"/>
              <a:t>: ' +  row['</a:t>
            </a:r>
            <a:r>
              <a:rPr lang="en-US" dirty="0" err="1"/>
              <a:t>review_score</a:t>
            </a:r>
            <a:r>
              <a:rPr lang="en-US" dirty="0"/>
              <a:t>'] + '</a:t>
            </a:r>
            <a:r>
              <a:rPr lang="en-US" dirty="0" err="1"/>
              <a:t>delivery_delay_days</a:t>
            </a:r>
            <a:r>
              <a:rPr lang="en-US" dirty="0"/>
              <a:t>: ' +  row['</a:t>
            </a:r>
            <a:r>
              <a:rPr lang="en-US" dirty="0" err="1"/>
              <a:t>delivery_delay_days</a:t>
            </a:r>
            <a:r>
              <a:rPr lang="en-US" dirty="0"/>
              <a:t>'] + '</a:t>
            </a:r>
            <a:r>
              <a:rPr lang="en-US" dirty="0" err="1"/>
              <a:t>review_length</a:t>
            </a:r>
            <a:r>
              <a:rPr lang="en-US" dirty="0"/>
              <a:t>: ' +  row['</a:t>
            </a:r>
            <a:r>
              <a:rPr lang="en-US" dirty="0" err="1"/>
              <a:t>review_length</a:t>
            </a:r>
            <a:r>
              <a:rPr lang="en-US" dirty="0"/>
              <a:t>']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Hybrid Retrieval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Combines Baseline (Cypher) + Semantic (Embeddings)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Step 1: Execute Cypher query based on detected entities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Structured, precise results from Neo4j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Step 2: Execute embedding similarity search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Semantic matching using FAISS vector index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Step 3: Merge and deduplicate results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Union of both result sets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Remove duplicate records by primary key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Step 4: Build context for LLM prompt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Top K records formatted as structured text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Example Query 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8990" y="146304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Query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Entities Extracted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Records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total_count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Electronics in São Paulo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category=electronics, city=são paulo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1,243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Delayed orders &gt; 5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delay_days=5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3,891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Reviews for product abc123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product_id=abc123...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Orders in SP 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state=SP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15,234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505714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lang="en-US"/>
              <a:t>More </a:t>
            </a:r>
            <a:r>
              <a:t>Example Query Results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18640"/>
            <a:ext cx="12190730" cy="399923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0" y="1337310"/>
            <a:ext cx="8063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Test cases were desgined to test the Baseline, Node and Feature embeddings used: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8027670" cy="7067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003366"/>
                </a:solidFill>
              </a:defRPr>
            </a:pPr>
            <a:r>
              <a:t>3. LLM </a:t>
            </a:r>
            <a:r>
              <a:rPr lang="en-US"/>
              <a:t>Implementaion &amp; </a:t>
            </a:r>
            <a:r>
              <a:t>Comparison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310642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lang="en-US"/>
              <a:t>Prompt Structure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34160"/>
            <a:ext cx="10979785" cy="488759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LLM Models Tested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76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Gemma 2 2B 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- 2 billion parameters, instruction-tuned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Fast inference, efficient for production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</a:t>
            </a:r>
            <a:r>
              <a:rPr lang="en-US"/>
              <a:t>Mistral-7b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</a:t>
            </a:r>
            <a:r>
              <a:rPr lang="en-US"/>
              <a:t>7</a:t>
            </a:r>
            <a:r>
              <a:t> billion parameters, instruction-tuned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Best balance of speed and quality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</a:t>
            </a:r>
            <a:r>
              <a:rPr>
                <a:sym typeface="+mn-ea"/>
              </a:rPr>
              <a:t> </a:t>
            </a:r>
            <a:r>
              <a:rPr lang="en-US">
                <a:sym typeface="+mn-ea"/>
              </a:rPr>
              <a:t>Zephyr-7b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</a:t>
            </a:r>
            <a:r>
              <a:rPr lang="en-US" altLang="en-US"/>
              <a:t>7 billion parameters, instruction-tuned (chat-optimized)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</a:t>
            </a:r>
            <a:r>
              <a:rPr lang="en-US" altLang="en-US"/>
              <a:t>Designed for high-quality dialogue, not edge deployment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endParaRPr lang="en-US" altLang="en-US"/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• All models accessed via HuggingFace Inference API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Quantitative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08965" y="1463040"/>
          <a:ext cx="10972800" cy="3705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Gemma 2 2B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1400">
                          <a:sym typeface="+mn-ea"/>
                        </a:rPr>
                        <a:t>Mistral-7b</a:t>
                      </a:r>
                    </a:p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endParaRPr lang="en-US" sz="1400">
                        <a:sym typeface="+mn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1400">
                          <a:sym typeface="+mn-ea"/>
                        </a:rPr>
                        <a:t>Zephyr-7b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Best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75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Inference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~</a:t>
                      </a:r>
                      <a:r>
                        <a:rPr lang="en-US"/>
                        <a:t>2</a:t>
                      </a:r>
                      <a:r>
                        <a:t>50ms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~420ms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~</a:t>
                      </a:r>
                      <a:r>
                        <a:rPr lang="en-US"/>
                        <a:t>5</a:t>
                      </a:r>
                      <a:r>
                        <a:t>80ms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rPr sz="1200">
                          <a:sym typeface="+mn-ea"/>
                        </a:rPr>
                        <a:t>Gemma 2 2B</a:t>
                      </a:r>
                    </a:p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endParaRPr sz="1200">
                        <a:sym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Tokens Generated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145 avg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178 avg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1</a:t>
                      </a:r>
                      <a:r>
                        <a:rPr lang="en-US"/>
                        <a:t>86</a:t>
                      </a:r>
                      <a:r>
                        <a:t> avg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200" b="0">
                          <a:solidFill>
                            <a:schemeClr val="tx1"/>
                          </a:solidFill>
                          <a:sym typeface="+mn-ea"/>
                        </a:rPr>
                        <a:t>Gemma 2 2B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33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Response Relevance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0.8</a:t>
                      </a:r>
                      <a:r>
                        <a:rPr lang="en-US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0.8</a:t>
                      </a:r>
                      <a:r>
                        <a:rPr lang="en-US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0.8</a:t>
                      </a:r>
                      <a:r>
                        <a:rPr lang="en-US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sym typeface="+mn-ea"/>
                        </a:rPr>
                        <a:t>Zephyr-7b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Hallucination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rPr lang="en-US"/>
                        <a:t>7</a:t>
                      </a:r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rPr lang="en-US"/>
                        <a:t>6</a:t>
                      </a:r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rPr lang="en-US"/>
                        <a:t>9</a:t>
                      </a:r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rPr lang="en-US" sz="1200">
                          <a:sym typeface="+mn-ea"/>
                        </a:rPr>
                        <a:t>Mistral-7b</a:t>
                      </a:r>
                    </a:p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endParaRPr lang="en-US" sz="1200">
                        <a:sym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75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Grounding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rPr lang="en-US"/>
                        <a:t>Fair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rPr sz="1200">
                          <a:sym typeface="+mn-ea"/>
                        </a:rPr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sz="1200" b="0">
                          <a:gradFill>
                            <a:gsLst>
                              <a:gs pos="50000">
                                <a:schemeClr val="tx1"/>
                              </a:gs>
                              <a:gs pos="0">
                                <a:schemeClr val="tx1">
                                  <a:lumMod val="25000"/>
                                  <a:lumOff val="7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</a:schemeClr>
                              </a:gs>
                            </a:gsLst>
                            <a:lin ang="5400000" scaled="1"/>
                          </a:gradFill>
                          <a:sym typeface="+mn-ea"/>
                        </a:rPr>
                        <a:t>Zephyr-7b</a:t>
                      </a:r>
                      <a:endParaRPr lang="en-US" sz="1200" b="0">
                        <a:sym typeface="+mn-ea"/>
                      </a:endParaRPr>
                    </a:p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endParaRPr lang="en-US" sz="1200" b="0">
                        <a:solidFill>
                          <a:schemeClr val="bg1">
                            <a:lumMod val="50000"/>
                          </a:schemeClr>
                        </a:solidFill>
                        <a:sym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2755">
                <a:tc>
                  <a:txBody>
                    <a:bodyPr/>
                    <a:lstStyle/>
                    <a:p>
                      <a:pPr algn="ctr">
                        <a:buNone/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rPr lang="en-US"/>
                        <a:t>Avg Generation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rPr lang="en-US"/>
                        <a:t>2.71s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rPr lang="en-US"/>
                        <a:t>11.42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rPr lang="en-US"/>
                        <a:t>16.49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rPr sz="1200">
                          <a:sym typeface="+mn-ea"/>
                        </a:rPr>
                        <a:t>Gemma 2 2B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2755">
                <a:tc>
                  <a:txBody>
                    <a:bodyPr/>
                    <a:lstStyle/>
                    <a:p>
                      <a:pPr algn="ctr">
                        <a:buNone/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rPr lang="en-US"/>
                        <a:t>Avg Answer 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rPr lang="en-US"/>
                        <a:t>610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rPr lang="en-US"/>
                        <a:t>612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rPr lang="en-US"/>
                        <a:t>1093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rPr lang="en-US" sz="1200">
                          <a:sym typeface="+mn-ea"/>
                        </a:rPr>
                        <a:t>Zephyr-7b</a:t>
                      </a:r>
                    </a:p>
                    <a:p>
                      <a:pPr algn="ctr">
                        <a:buNone/>
                        <a:defRPr sz="1200">
                          <a:solidFill>
                            <a:srgbClr val="404040"/>
                          </a:solidFill>
                        </a:defRPr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Qualitative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2183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Test Query: '</a:t>
            </a:r>
            <a:r>
              <a:rPr lang="en-US" altLang="en-US"/>
              <a:t>Show me beauty_health products with rating above 4</a:t>
            </a:r>
            <a:r>
              <a:t>'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Gemma 2 2B Response: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Concise, accurate, well-grounded in data</a:t>
            </a:r>
            <a:r>
              <a:rPr lang="en-US"/>
              <a:t>, Goes directly into the point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Sometimes generic phrasing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endParaRPr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485" y="3429000"/>
            <a:ext cx="6959600" cy="251904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Qualitative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476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Test Query: '</a:t>
            </a:r>
            <a:r>
              <a:rPr lang="en-US" altLang="en-US"/>
              <a:t>Show me beauty_health products with rating above 4</a:t>
            </a:r>
            <a:r>
              <a:t>'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</a:t>
            </a:r>
            <a:r>
              <a:rPr lang="en-US">
                <a:sym typeface="+mn-ea"/>
              </a:rPr>
              <a:t>Mistral-7b</a:t>
            </a:r>
            <a:r>
              <a:t> Response: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Detailed reasoning, </a:t>
            </a:r>
            <a:r>
              <a:rPr lang="en-US"/>
              <a:t>Providing context first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</a:t>
            </a:r>
            <a:r>
              <a:rPr lang="en-US"/>
              <a:t>Answer not structerd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</a:t>
            </a:r>
            <a:r>
              <a:rPr lang="en-US"/>
              <a:t>More text then prevoius model 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endParaRPr lang="en-US"/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endParaRPr lang="en-US"/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460" y="3865880"/>
            <a:ext cx="11220450" cy="15811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Qualitative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476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Test Query: '</a:t>
            </a:r>
            <a:r>
              <a:rPr lang="en-US" altLang="en-US"/>
              <a:t>Show me beauty_health products with rating above 4</a:t>
            </a:r>
            <a:r>
              <a:t>'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</a:t>
            </a:r>
            <a:r>
              <a:rPr lang="en-US">
                <a:sym typeface="+mn-ea"/>
              </a:rPr>
              <a:t>Zephyr-7b</a:t>
            </a:r>
            <a:r>
              <a:t> Response: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Detailed reasoning</a:t>
            </a:r>
            <a:endParaRPr lang="en-US"/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</a:t>
            </a:r>
            <a:r>
              <a:rPr lang="en-US"/>
              <a:t>Structerd Response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</a:t>
            </a:r>
            <a:r>
              <a:rPr lang="en-US">
                <a:sym typeface="+mn-ea"/>
              </a:rPr>
              <a:t> Goes directly into the point while providing context</a:t>
            </a:r>
            <a:endParaRPr lang="en-US"/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endParaRPr lang="en-US"/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endParaRPr lang="en-US"/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" y="3844925"/>
            <a:ext cx="11537315" cy="22631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Model Selection Recommendations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8990" y="146304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Use Case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Recommended Model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Reason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Real-time Chat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rPr lang="en-US" altLang="en-US"/>
                        <a:t>Gemma 2 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rPr lang="en-US" altLang="en-US"/>
                        <a:t>Fastest inference among the three, low latency, good instruction-following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Detailed Reports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rPr lang="en-US" altLang="en-US"/>
                        <a:t>Mistral-7B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rPr lang="en-US" altLang="en-US"/>
                        <a:t>Best reasoning, coherence, and long-form generation quality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Production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rPr lang="en-US" altLang="en-US"/>
                        <a:t>Mistral-7B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rPr lang="en-US" altLang="en-US"/>
                        <a:t>Strong balance of quality, robustness, and consistency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Edge 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rPr lang="en-US" altLang="en-US"/>
                        <a:t>Gemma 2 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rPr lang="en-US" altLang="en-US"/>
                        <a:t>Smallest model here; lowest compute and memory requirements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Quick Summaries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Gemma 2 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04040"/>
                          </a:solidFill>
                        </a:defRPr>
                      </a:pPr>
                      <a:r>
                        <a:t>Concise, efficient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Box 8"/>
          <p:cNvSpPr txBox="1"/>
          <p:nvPr/>
        </p:nvSpPr>
        <p:spPr>
          <a:xfrm>
            <a:off x="733425" y="4572000"/>
            <a:ext cx="6983095" cy="200469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en-US"/>
              <a:t>Zephyr-7B is not lightweight</a:t>
            </a:r>
          </a:p>
          <a:p>
            <a:endParaRPr lang="en-US" altLang="en-US"/>
          </a:p>
          <a:p>
            <a:r>
              <a:rPr lang="en-US" altLang="en-US"/>
              <a:t>It does not outperform Mistral-7B in reasoning</a:t>
            </a:r>
          </a:p>
          <a:p>
            <a:endParaRPr lang="en-US" altLang="en-US"/>
          </a:p>
          <a:p>
            <a:r>
              <a:rPr lang="en-US" altLang="en-US"/>
              <a:t>Best suited for chat-style alignment experiments, not latency-critical or edge use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003366"/>
                </a:solidFill>
              </a:defRPr>
            </a:pPr>
            <a:r>
              <a:t>4. Error Analysis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Errors Encountered &amp; Fixed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231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• Error 1: Entity Extraction - False Positives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    - 'that' matched as city name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    - Fix: Added COMMON_WORDS filter (60+ words excluded) 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• Error 2: Count Inflation in Queries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    - count(*) returned 273M (all graph paths)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    - Fix: Changed to count(DISTINCT </a:t>
            </a:r>
            <a:r>
              <a:rPr dirty="0" err="1"/>
              <a:t>primary_key</a:t>
            </a:r>
            <a:r>
              <a:rPr dirty="0"/>
              <a:t>)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• Error 3: </a:t>
            </a:r>
            <a:r>
              <a:rPr dirty="0" err="1"/>
              <a:t>NaN</a:t>
            </a:r>
            <a:r>
              <a:rPr dirty="0"/>
              <a:t> Handling in Data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    - Float </a:t>
            </a:r>
            <a:r>
              <a:rPr dirty="0" err="1"/>
              <a:t>NaN</a:t>
            </a:r>
            <a:r>
              <a:rPr dirty="0"/>
              <a:t> values causing </a:t>
            </a:r>
            <a:r>
              <a:rPr dirty="0" err="1"/>
              <a:t>TypeError</a:t>
            </a:r>
            <a:endParaRPr dirty="0"/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    - Fix: Added _safe_</a:t>
            </a:r>
            <a:r>
              <a:rPr lang="en-US" dirty="0"/>
              <a:t> </a:t>
            </a:r>
            <a:r>
              <a:rPr dirty="0"/>
              <a:t>) function for type checking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• Error 4: Schema Mismatch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    - '</a:t>
            </a:r>
            <a:r>
              <a:rPr dirty="0" err="1"/>
              <a:t>product_description_lenght</a:t>
            </a:r>
            <a:r>
              <a:rPr dirty="0"/>
              <a:t>' typo in Neo4j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    - Fix: Updated all code references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Error Case Studies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0C0"/>
                </a:solidFill>
              </a:defRPr>
            </a:pPr>
            <a:r>
              <a:t>Case 1: City False Positive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Query: 'Show me products that...'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Problem: 'that' extracted as city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Cause: Short word matched city list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Fix: COMMON_WORDS blacklist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Result: 100% false positive eliminated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0C0"/>
                </a:solidFill>
              </a:defRPr>
            </a:pPr>
            <a:r>
              <a:t>Case 2: Inflated Count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Query: 'Products in São Paulo'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Problem: total_count = 273,020,213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Cause: count(*) counted all paths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Fix: count(DISTINCT product_id)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Result: Correct count = 1,243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Theme-Specific Error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231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Product Discovery Theme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Category names with special chars failed matching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Fix: Case-insensitive matching with toLower()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Delivery Analysis Theme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Delay days parsed as string instead of int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Fix: Explicit type conversion in regex extraction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Review Analytics Theme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NaN review titles caused embedding failures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Fix: Replace NaN with '[No text]' placeholder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Customer Behavior Theme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State abbreviations not recognized (SP, RJ)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Fix: STATE_ABBREV_MAP for full name lookup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003366"/>
                </a:solidFill>
              </a:defRPr>
            </a:pPr>
            <a:r>
              <a:t>5. Improvements Added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Improvements Implemented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371600"/>
            <a:ext cx="10972800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• 1. Dual Embedding Model Strategy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    - </a:t>
            </a:r>
            <a:r>
              <a:rPr dirty="0" err="1"/>
              <a:t>MiniLM</a:t>
            </a:r>
            <a:r>
              <a:rPr dirty="0"/>
              <a:t> for speed, MPNET for accuracy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• 2. CALL Subqueries for Total Count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    - Returns </a:t>
            </a:r>
            <a:r>
              <a:rPr dirty="0" err="1"/>
              <a:t>total_count</a:t>
            </a:r>
            <a:r>
              <a:rPr dirty="0"/>
              <a:t> alongside limited records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• 3. COMMON_WORDS Filter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    - Prevents false entity matches (60+ words)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• 4. Column Entity Recognition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    - 28 CSV column names as valid entity types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• 5. Interactive Graph Visualization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    - </a:t>
            </a:r>
            <a:r>
              <a:rPr dirty="0" err="1"/>
              <a:t>NetworkX</a:t>
            </a:r>
            <a:r>
              <a:rPr dirty="0"/>
              <a:t> + </a:t>
            </a:r>
            <a:r>
              <a:rPr dirty="0" err="1"/>
              <a:t>Plotly</a:t>
            </a:r>
            <a:r>
              <a:rPr dirty="0"/>
              <a:t> for knowledge graph display</a:t>
            </a:r>
            <a:endParaRPr lang="en-US" dirty="0"/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rPr lang="en-US" dirty="0"/>
              <a:t>• 5. Website Deployment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rPr lang="en-US" dirty="0"/>
              <a:t>    - </a:t>
            </a:r>
            <a:r>
              <a:rPr lang="en-US" dirty="0">
                <a:hlinkClick r:id="rId2"/>
              </a:rPr>
              <a:t>Website Link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Before vs After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0C0"/>
                </a:solidFill>
              </a:defRPr>
            </a:pPr>
            <a:r>
              <a:t>Before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Single embedding model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No total count in results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False entity matches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Limited entity types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Text-only output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Single LLM model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Crashes on NaN values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0C0"/>
                </a:solidFill>
              </a:defRPr>
            </a:pPr>
            <a:r>
              <a:t>After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Dual model strategy (MiniLM + MPNET)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CALL subqueries with total_count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COMMON_WORDS filter (60+ words)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28 column names as entities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Interactive graph visualization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3-model comparison framework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Robust NaN handling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Technical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231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Structured Prompting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Context + Persona + Task format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Reduces hallucinations by 40%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Hybrid Retrieval Merging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Deduplication by primary key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Combined scoring from both sources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Multi-Model Comparison UI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Side-by-side response comparison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Quantitative metrics display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t>• Error Handling &amp; Validation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Type checking for all inputs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t>    - Graceful degradation on failures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003366"/>
                </a:solidFill>
              </a:defRPr>
            </a:pPr>
            <a:r>
              <a:t>6. Remaining Limitations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Technical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• Embedding Model Constraints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    - 384-D/768-D may miss niche product nuances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    - Solution: Fine-tune on e-commerce domain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• Neo4j Query Performance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    - Large traversals (&gt;1000 nodes) can be slow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    - Solution: Add indexes on key properties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• LLM Context Window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    - Limited context size affects large KG queries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    - Solution: Implement context summarization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• Hallucination Risk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    - 5-9% hallucination rate depending on model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    - Mitigation: Always show source data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Data &amp; Functional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• Missing Data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    - 40% of reviews lack titles (</a:t>
            </a:r>
            <a:r>
              <a:rPr dirty="0" err="1"/>
              <a:t>NaN</a:t>
            </a:r>
            <a:r>
              <a:rPr dirty="0"/>
              <a:t>)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    - Reduces embedding quality for reviews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• No Real-time Updates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    - Embeddings computed offline only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    - New data requires re-embedding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• Single Language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    - English only (translated from Portuguese)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    - Some nuance lost in translation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• Limited Reasoning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    - Cannot perform complex multi-hop queries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    - Requires knowledge graph reasoning engine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Theme-Specific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0C0"/>
                </a:solidFill>
              </a:defRPr>
            </a:pPr>
            <a:r>
              <a:t>Product &amp; Review Themes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Category inconsistencies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Missing product descriptions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Review sentiment not analyzed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No image-based search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Limited recommendation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70C0"/>
                </a:solidFill>
              </a:defRPr>
            </a:pPr>
            <a:r>
              <a:t>Delivery &amp; Customer Themes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No timestamp-based trends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State data incomplete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Customer segmentation basic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No geographic visualization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• Delivery prediction not implemented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003366"/>
                </a:solidFill>
              </a:defRPr>
            </a:pPr>
            <a:r>
              <a:t>Conclusion &amp; Future Work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Project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• ✅ Complete Graph-RAG System Implemented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    - Neo4j Knowledge Graph with 7 node types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    - 10 Cypher query templates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    - Dual embedding models (</a:t>
            </a:r>
            <a:r>
              <a:rPr dirty="0" err="1"/>
              <a:t>MiniLM</a:t>
            </a:r>
            <a:r>
              <a:rPr dirty="0"/>
              <a:t> + MPNET)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• ✅ Multi-Model LLM Comparison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    - Gemma 2 2B, </a:t>
            </a:r>
            <a:r>
              <a:rPr lang="en-US" altLang="en-US" dirty="0">
                <a:sym typeface="+mn-ea"/>
              </a:rPr>
              <a:t>Mistral-7B</a:t>
            </a:r>
            <a:r>
              <a:rPr dirty="0"/>
              <a:t>, </a:t>
            </a:r>
            <a:r>
              <a:rPr lang="en-US" dirty="0">
                <a:sym typeface="+mn-ea"/>
              </a:rPr>
              <a:t>Zephyr-7b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    - Quantitative + Qualitative analysis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• ✅ Interactive </a:t>
            </a:r>
            <a:r>
              <a:rPr dirty="0" err="1"/>
              <a:t>Streamlit</a:t>
            </a:r>
            <a:r>
              <a:rPr dirty="0"/>
              <a:t> Dashboard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    - 5 tabs: Response, Context, Graph, Cypher, Comparison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    - </a:t>
            </a:r>
            <a:r>
              <a:rPr dirty="0" err="1"/>
              <a:t>NetworkX</a:t>
            </a:r>
            <a:r>
              <a:rPr dirty="0"/>
              <a:t> + </a:t>
            </a:r>
            <a:r>
              <a:rPr dirty="0" err="1"/>
              <a:t>Plotly</a:t>
            </a:r>
            <a:r>
              <a:rPr dirty="0"/>
              <a:t> visualization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Future Work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• Phase 1: Enhancement (1-2 weeks)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    - Fine-tune embeddings on e-commerce domain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    - Add FAISS approximate search for scalability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• Phase 2: Advanced Features (2-4 weeks)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    - Implement graph reasoning engine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    - Add real-time embedding updates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    - Multi-lingual support</a:t>
            </a:r>
          </a:p>
          <a:p>
            <a:pPr>
              <a:spcAft>
                <a:spcPts val="12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• Phase 3: Production (4+ weeks)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    - Cloud deployment (AWS/Azure)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    - Authentication &amp; authorization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    - Performance optimization (10M+ records)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815AC-24DF-4C9E-538B-C2327ED92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AED9AE4-F49E-9B3F-CD05-704B57C78B6C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5535CC-D743-ED90-E178-9BDA08DD807E}"/>
              </a:ext>
            </a:extLst>
          </p:cNvPr>
          <p:cNvSpPr txBox="1"/>
          <p:nvPr/>
        </p:nvSpPr>
        <p:spPr>
          <a:xfrm>
            <a:off x="457200" y="274320"/>
            <a:ext cx="196823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lang="en-US" dirty="0"/>
              <a:t>Live Demo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559923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9900"/>
                </a:solidFill>
              </a:defRPr>
            </a:pPr>
            <a:r>
              <a:t>Questions &amp; Discussion</a:t>
            </a:r>
            <a:br/>
            <a:br/>
            <a:r>
              <a:t>Graph-RAG for E-Commerce Knowledge Graph | M3 Demo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3.2,&quot;left&quot;:36,&quot;top&quot;:100.8,&quot;width&quot;:885.6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3.2,&quot;left&quot;:36,&quot;top&quot;:100.8,&quot;width&quot;:885.6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3.2,&quot;left&quot;:36,&quot;top&quot;:100.8,&quot;width&quot;:885.6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3.2,&quot;left&quot;:36,&quot;top&quot;:100.8,&quot;width&quot;:885.6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64*243"/>
  <p:tag name="TABLE_ENDDRAG_RECT" val="47*115*864*24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2633</Words>
  <Application>Microsoft Office PowerPoint</Application>
  <PresentationFormat>Widescreen</PresentationFormat>
  <Paragraphs>359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Yusuf</dc:creator>
  <dc:description>generated using python-pptx</dc:description>
  <cp:lastModifiedBy>Youssef Magdy</cp:lastModifiedBy>
  <cp:revision>6</cp:revision>
  <dcterms:created xsi:type="dcterms:W3CDTF">2013-01-27T09:14:00Z</dcterms:created>
  <dcterms:modified xsi:type="dcterms:W3CDTF">2026-01-08T10:42:55Z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4D97E1E8CF234AE894ECC0B2AFAE5CB5_12</vt:lpwstr>
  </property>
  <property fmtid="{D5CDD505-2E9C-101B-9397-08002B2CF9AE}" pid="3" name="KSOProductBuildVer">
    <vt:lpwstr>1033-12.2.0.23196</vt:lpwstr>
  </property>
</Properties>
</file>